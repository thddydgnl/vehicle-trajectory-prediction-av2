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07e78036bc446b" /><Relationship Type="http://schemas.openxmlformats.org/officeDocument/2006/relationships/extended-properties" Target="/docProps/app.xml" Id="R455d2aabef724540" /><Relationship Type="http://schemas.openxmlformats.org/officeDocument/2006/relationships/officeDocument" Target="/ppt/presentation.xml" Id="Rb2e8e6419337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70e0574364312"/>
  </p:sldMasterIdLst>
  <p:notesMasterIdLst>
    <p:notesMasterId xmlns:r="http://schemas.openxmlformats.org/officeDocument/2006/relationships" r:id="R2b6f11ba342e4eb2"/>
  </p:notesMasterIdLst>
  <p:sldIdLst>
    <p:sldId xmlns:r="http://schemas.openxmlformats.org/officeDocument/2006/relationships" id="256" r:id="R54ddc9e8581f4b4c"/>
    <p:sldId xmlns:r="http://schemas.openxmlformats.org/officeDocument/2006/relationships" id="257" r:id="Rb92fae3eb2e4426d"/>
    <p:sldId xmlns:r="http://schemas.openxmlformats.org/officeDocument/2006/relationships" id="258" r:id="R107363ebc5b2411a"/>
    <p:sldId xmlns:r="http://schemas.openxmlformats.org/officeDocument/2006/relationships" id="259" r:id="Rb947e2f0640946f9"/>
    <p:sldId xmlns:r="http://schemas.openxmlformats.org/officeDocument/2006/relationships" id="260" r:id="R52813e64707c4fdc"/>
    <p:sldId xmlns:r="http://schemas.openxmlformats.org/officeDocument/2006/relationships" id="261" r:id="Rda94972696f643c2"/>
    <p:sldId xmlns:r="http://schemas.openxmlformats.org/officeDocument/2006/relationships" id="262" r:id="Rfd43c3a50a3c40a1"/>
    <p:sldId xmlns:r="http://schemas.openxmlformats.org/officeDocument/2006/relationships" id="263" r:id="Re501ffe32d5641be"/>
    <p:sldId xmlns:r="http://schemas.openxmlformats.org/officeDocument/2006/relationships" id="264" r:id="Rcada6726e9d344e4"/>
    <p:sldId xmlns:r="http://schemas.openxmlformats.org/officeDocument/2006/relationships" id="265" r:id="R735da91b471f48a2"/>
    <p:sldId xmlns:r="http://schemas.openxmlformats.org/officeDocument/2006/relationships" id="266" r:id="R4403145099604b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7751cd0f41446c" /><Relationship Type="http://schemas.openxmlformats.org/officeDocument/2006/relationships/slideMaster" Target="/ppt/slideMasters/slideMaster1.xml" Id="R31370e0574364312" /><Relationship Type="http://schemas.openxmlformats.org/officeDocument/2006/relationships/notesMaster" Target="/ppt/notesMasters/notesMaster1.xml" Id="R2b6f11ba342e4eb2" /><Relationship Type="http://schemas.openxmlformats.org/officeDocument/2006/relationships/presProps" Target="/ppt/presProps.xml" Id="Rfbfe0843204f401c" /><Relationship Type="http://schemas.openxmlformats.org/officeDocument/2006/relationships/viewProps" Target="/ppt/viewProps.xml" Id="Rc56bb1555b52441b" /><Relationship Type="http://schemas.openxmlformats.org/officeDocument/2006/relationships/tableStyles" Target="/ppt/tableStyles.xml" Id="Re42e7d121919403c" /><Relationship Type="http://schemas.openxmlformats.org/officeDocument/2006/relationships/slide" Target="/ppt/slides/slide1.xml" Id="R54ddc9e8581f4b4c" /><Relationship Type="http://schemas.openxmlformats.org/officeDocument/2006/relationships/slide" Target="/ppt/slides/slide2.xml" Id="Rb92fae3eb2e4426d" /><Relationship Type="http://schemas.openxmlformats.org/officeDocument/2006/relationships/slide" Target="/ppt/slides/slide3.xml" Id="R107363ebc5b2411a" /><Relationship Type="http://schemas.openxmlformats.org/officeDocument/2006/relationships/slide" Target="/ppt/slides/slide4.xml" Id="Rb947e2f0640946f9" /><Relationship Type="http://schemas.openxmlformats.org/officeDocument/2006/relationships/slide" Target="/ppt/slides/slide5.xml" Id="R52813e64707c4fdc" /><Relationship Type="http://schemas.openxmlformats.org/officeDocument/2006/relationships/slide" Target="/ppt/slides/slide6.xml" Id="Rda94972696f643c2" /><Relationship Type="http://schemas.openxmlformats.org/officeDocument/2006/relationships/slide" Target="/ppt/slides/slide7.xml" Id="Rfd43c3a50a3c40a1" /><Relationship Type="http://schemas.openxmlformats.org/officeDocument/2006/relationships/slide" Target="/ppt/slides/slide8.xml" Id="Re501ffe32d5641be" /><Relationship Type="http://schemas.openxmlformats.org/officeDocument/2006/relationships/slide" Target="/ppt/slides/slide9.xml" Id="Rcada6726e9d344e4" /><Relationship Type="http://schemas.openxmlformats.org/officeDocument/2006/relationships/slide" Target="/ppt/slides/slide10.xml" Id="R735da91b471f48a2" /><Relationship Type="http://schemas.openxmlformats.org/officeDocument/2006/relationships/slide" Target="/ppt/slides/slide11.xml" Id="R4403145099604b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f824e3f494f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9faf8a12e438f" /><Relationship Type="http://schemas.openxmlformats.org/officeDocument/2006/relationships/notesMaster" Target="/ppt/notesMasters/notesMaster1.xml" Id="R10b7149489b2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591343ae3d4b92" /><Relationship Type="http://schemas.openxmlformats.org/officeDocument/2006/relationships/notesMaster" Target="/ppt/notesMasters/notesMaster1.xml" Id="R385e45ba400b45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f530cf9fb14f30" /><Relationship Type="http://schemas.openxmlformats.org/officeDocument/2006/relationships/notesMaster" Target="/ppt/notesMasters/notesMaster1.xml" Id="Rd301a17ed227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b46e5e46c34983" /><Relationship Type="http://schemas.openxmlformats.org/officeDocument/2006/relationships/notesMaster" Target="/ppt/notesMasters/notesMaster1.xml" Id="R9cb35b73af8245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58a338289b4df7" /><Relationship Type="http://schemas.openxmlformats.org/officeDocument/2006/relationships/notesMaster" Target="/ppt/notesMasters/notesMaster1.xml" Id="Rc20a994c45274f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050c4cba114b26" /><Relationship Type="http://schemas.openxmlformats.org/officeDocument/2006/relationships/notesMaster" Target="/ppt/notesMasters/notesMaster1.xml" Id="Refdaa873937b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178c2ce6074732" /><Relationship Type="http://schemas.openxmlformats.org/officeDocument/2006/relationships/notesMaster" Target="/ppt/notesMasters/notesMaster1.xml" Id="R0645d8feee7543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ed579d38f74058" /><Relationship Type="http://schemas.openxmlformats.org/officeDocument/2006/relationships/notesMaster" Target="/ppt/notesMasters/notesMaster1.xml" Id="Rad1ef6a337e34b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38ba5d1dea48af" /><Relationship Type="http://schemas.openxmlformats.org/officeDocument/2006/relationships/notesMaster" Target="/ppt/notesMasters/notesMaster1.xml" Id="Rb9402d10001849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d80974ec7146b7" /><Relationship Type="http://schemas.openxmlformats.org/officeDocument/2006/relationships/notesMaster" Target="/ppt/notesMasters/notesMaster1.xml" Id="R25e8ebcc583e4e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eca94e446e4a5c" /><Relationship Type="http://schemas.openxmlformats.org/officeDocument/2006/relationships/notesMaster" Target="/ppt/notesMasters/notesMaster1.xml" Id="R99d54ec2e3de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1c61725334c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9ed9bf25d0428d" /><Relationship Type="http://schemas.openxmlformats.org/officeDocument/2006/relationships/slideLayout" Target="/ppt/slideLayouts/slideLayout1.xml" Id="R7f81f0c59dcf4e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81f0c59dcf4e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9fe0adc16442d" /><Relationship Type="http://schemas.openxmlformats.org/officeDocument/2006/relationships/image" Target="/ppt/media/image.png" Id="Ra67ac87392754de8" /><Relationship Type="http://schemas.openxmlformats.org/officeDocument/2006/relationships/notesSlide" Target="/ppt/notesSlides/notesSlide1.xml" Id="Rfdcaf1f560d94a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bf70790d84752" /><Relationship Type="http://schemas.openxmlformats.org/officeDocument/2006/relationships/notesSlide" Target="/ppt/notesSlides/notesSlide2.xml" Id="R7543883931c648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847559fd94550" /><Relationship Type="http://schemas.openxmlformats.org/officeDocument/2006/relationships/notesSlide" Target="/ppt/notesSlides/notesSlide3.xml" Id="R677abbdd20b8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12382215047fc" /><Relationship Type="http://schemas.openxmlformats.org/officeDocument/2006/relationships/notesSlide" Target="/ppt/notesSlides/notesSlide4.xml" Id="R8606ef2a3dce48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d882f6c3f4e64" /><Relationship Type="http://schemas.openxmlformats.org/officeDocument/2006/relationships/notesSlide" Target="/ppt/notesSlides/notesSlide5.xml" Id="Rbfde3205f5ef43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84010af742fa" /><Relationship Type="http://schemas.openxmlformats.org/officeDocument/2006/relationships/notesSlide" Target="/ppt/notesSlides/notesSlide6.xml" Id="R7201153ec04e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23b63b3354d4c" /><Relationship Type="http://schemas.openxmlformats.org/officeDocument/2006/relationships/notesSlide" Target="/ppt/notesSlides/notesSlide7.xml" Id="R64e092b4c58844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06fff705c4b54" /><Relationship Type="http://schemas.openxmlformats.org/officeDocument/2006/relationships/notesSlide" Target="/ppt/notesSlides/notesSlide8.xml" Id="Rd8863fa4b8c844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5532652714a89" /><Relationship Type="http://schemas.openxmlformats.org/officeDocument/2006/relationships/notesSlide" Target="/ppt/notesSlides/notesSlide9.xml" Id="R53315c9755e14c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a59a64e524ed7" /><Relationship Type="http://schemas.openxmlformats.org/officeDocument/2006/relationships/image" Target="/ppt/media/image2.png" Id="R60534da6d0b94851" /><Relationship Type="http://schemas.openxmlformats.org/officeDocument/2006/relationships/image" Target="/ppt/media/image3.png" Id="R652bd8a17aae4916" /><Relationship Type="http://schemas.openxmlformats.org/officeDocument/2006/relationships/image" Target="/ppt/media/image4.png" Id="Rfd0fa11098e1460c" /><Relationship Type="http://schemas.openxmlformats.org/officeDocument/2006/relationships/notesSlide" Target="/ppt/notesSlides/notesSlide10.xml" Id="R843425b4490e45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7726be71b48ff" /><Relationship Type="http://schemas.openxmlformats.org/officeDocument/2006/relationships/notesSlide" Target="/ppt/notesSlides/notesSlide11.xml" Id="Rab6d7fe68b1942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8A59D-5968-41D9-8368-B33265EA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1A0F2-CDA5-4206-BAC7-F98ACCF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E87BE-D0F5-44CA-96C5-67277ADB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01 /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F03C4-7932-4B1A-B842-2DED2176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차량·보행자의 과거 5초 움직임으로 미래 3초 궤적을 예측한다.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F18FD-EA52-4775-A90A-DB2F8273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7EEAE-DDD7-437F-AFFB-C6C4400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차량·보행자 미래 궤적 예측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8BAED-3BBE-4FB7-8E4A-82880827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Linear, LSTM, Transformer, Direct Diffusion, PCA Diffusion을 같은 AV2 validation split에서 비교했다.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99AEF-5646-4013-935C-750B8252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66879-2167-43E2-AE08-CD0361FA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EE2AB-A04D-41F3-84E0-2EB35E0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5s / 50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05CC1-CD88-4C4E-9ACD-A9CE5A9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9570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67ED2-0B47-4E35-8D4F-1377EDFB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671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226F5-E56A-4B76-8029-7C38CC1E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957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3s / 30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533F6-D995-4801-B733-BAD63B3A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BC373-0AA5-479F-B491-56C57D89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5B82C-F831-41B8-B460-14922E0D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23,706 samples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ac87392754de8"/>
          <a:stretch xmlns:a="http://schemas.openxmlformats.org/drawingml/2006/main"/>
        </p:blipFill>
        <p:spPr>
          <a:xfrm xmlns:a="http://schemas.openxmlformats.org/drawingml/2006/main">
            <a:off x="7446166" y="1790700"/>
            <a:ext cx="3205168" cy="3143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A8954-6042-4273-9D2A-982F03A9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9911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3B39C-D5FD-4982-89D3-AE19B4EC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실제 도로 궤적 기반 예측 예시</a:t>
            </a:r>
          </a:p>
        </p:txBody>
      </p:sp>
    </p:spTree>
    <p:extLst>
      <p:ext uri="{BB962C8B-B14F-4D97-AF65-F5344CB8AC3E}">
        <p14:creationId xmlns:p14="http://schemas.microsoft.com/office/powerpoint/2010/main" val="10497074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EA4E6-F712-4A84-87A4-D602AD2D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F12CF-5125-46CB-AB42-B17A3A8C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BD0D1-609A-47DE-8859-DE85B88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02 / 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18CB5-5A95-4AE9-97C7-C75B3BF0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자율주행에서 주변 객체의 미래 위치 예측은 안전한 경로 계획의 핵심이다.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A6EE7-6153-4B8B-B3DA-FBD38E29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241DB-98AF-4A00-9CDF-29690E2F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B195B-B1FA-47FE-AC30-DB1F317F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691AA-8026-4BA4-AF10-790E471B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안전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FF597-4384-482B-89F1-63F09FA3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보행자·주변 차량의 감속, 회전, 차선 변경 가능성을 미리 예측해야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ACCE8-22E6-4189-AB47-5B4D37F1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100A3-6B1B-49FD-84AD-C144B38E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FD575-CDB3-4014-B6BC-646029EE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불확실성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C9015-C673-4C1F-B936-D97B326B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미래는 하나로 고정되지 않는다. 여러 가능한 경로를 함께 고려해야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130BE-B9EE-4F8F-A475-F2DB41A6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D99FE-A90C-4A2D-93BE-7BAE5B39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BD4BF-1607-4043-832C-1D209C6B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모델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0F798-42F9-4AA6-88C6-669D072B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단순 baseline부터 sequence model, diffusion 후보 생성까지 같은 지표로 비교했다.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997BE-C3AA-496F-BE08-B8674EA6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25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문제 정의: past trajectory 50 steps → future trajectory 30 steps</a:t>
            </a:r>
          </a:p>
        </p:txBody>
      </p:sp>
    </p:spTree>
    <p:extLst>
      <p:ext uri="{BB962C8B-B14F-4D97-AF65-F5344CB8AC3E}">
        <p14:creationId xmlns:p14="http://schemas.microsoft.com/office/powerpoint/2010/main" val="13000593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C70372-3F16-4194-9444-D94AFCD5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E9556-CB8A-43F0-B6F5-15562CED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AAEDA-4081-434E-9050-905443B2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03 / Dataset &amp; Preprocessing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DB254-6E02-4471-A6A2-058BAC55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Argoverse 2 Motion Forecasting 데이터를 모델이 학습 가능한 시계열 텐서로 변환했다.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4DB5A-5B1D-4F70-9737-78939458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0B80F-9245-4CB9-B223-5D4EEE1B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69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8DBEB-B3A6-454B-974F-AC137492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Raw AV2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11E04-555C-4E81-BB9E-BF77674F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parquet trajectory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CACE7-2489-4023-8980-3622BF5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D671D-64A2-4FD9-9C76-A9CCE74F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9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A823D-7C90-492B-BCA7-F0ADDB31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52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368FD-C3F8-43CC-B072-6FF54F1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마지막 관측 시점 기준 상대좌표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78172-0573-4DF5-A01C-025679AB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C1881-C6BF-44C7-B4F9-AC86CE90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169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58141-E1CE-4B6D-BAF2-EFBD9E00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52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C6817-D72A-4075-B344-1D088E01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x, y, velocity, heading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C8301-BE17-410A-B3C0-95D3A32D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DA973-D139-4DCC-9582-6ED00687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69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D9572-72AB-4371-B0D5-EFC8B566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CF900-1E7F-4C63-9C85-AE4BC77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future 30-step x, 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A4BA9-79ED-4480-B8CC-973A8A92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ADFEA-4AAC-4751-B635-CBD0C1A0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695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52B48-0AF0-42BC-B822-C1C7DF70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D0DD9-20B8-4504-A72D-27AA653F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 189,541 / val 23,706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90700-A306-4B2C-9C1D-EC8C970A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DE86A0-DD23-43C4-B9D8-47A2282E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Leakage 방지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242B8-0625-4BA3-AA3C-C236A82F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244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Scaler와 PCA는 train split에서만 fit하고 validation에는 transform만 적용했다.</a:t>
            </a:r>
          </a:p>
        </p:txBody>
      </p:sp>
    </p:spTree>
    <p:extLst>
      <p:ext uri="{BB962C8B-B14F-4D97-AF65-F5344CB8AC3E}">
        <p14:creationId xmlns:p14="http://schemas.microsoft.com/office/powerpoint/2010/main" val="19143180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7CD0D-281A-4D05-8C38-A2A81AA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41CF6-0BA2-4144-8646-28310AD6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BD2A8-86FB-48C5-B83C-4F91C7B8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04 / Algorithms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67CBB-D2EE-40E8-93D8-9DAA756A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단일 예측 모델과 후보 생성 모델을 함께 비교했다.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198FA-2677-4984-8A98-86858E7C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2A0C2-7884-4788-B8E4-EDB61CC5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C0CD7-7712-4EE6-9617-92C574CF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E93E3-DD7A-4D5D-91D4-E8A63F00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현재 속도 유지 가정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9A084-6945-4780-9F2D-E8F21A49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가장 단순한 기준선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8E3DA-B964-4A17-BC22-9B3935F0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9ED11-9F1E-4EB5-93E1-01DB028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955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53535-0603-4AD1-A34D-2C009E2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95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순환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483B4-A063-49F8-B247-CE65F925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짧은 시계열 움직임 패턴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29D80-7B4F-4951-99A9-26F7CA54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60ACA-F845-406F-9A85-DC8648F9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38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301A6-6ED5-44CB-8AB9-E24D64FC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385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7AA4A-D4AA-4ED2-88A9-AE417465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385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과거 시점 간 관계 학습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9DF25-C07D-417D-8C85-3305A359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31D89-9F42-408B-812A-A162D1F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Diffusion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84439-A225-4552-A3A3-E1B56010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81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60D trajectory 직접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2BB2F-FC9B-453E-A299-E7E5E31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814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여러 미래 후보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F8AE7-CCA2-478E-8F63-4B6B7C33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8C7D7-34C2-4E97-9E39-05C856D7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244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C690D-E26D-401A-863C-9256A49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244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PCA 기반 diffusion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78898-8C59-4B92-86B5-8838A86D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244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차원 축소로 안정적인 후보 생성</a:t>
            </a:r>
          </a:p>
        </p:txBody>
      </p:sp>
    </p:spTree>
    <p:extLst>
      <p:ext uri="{BB962C8B-B14F-4D97-AF65-F5344CB8AC3E}">
        <p14:creationId xmlns:p14="http://schemas.microsoft.com/office/powerpoint/2010/main" val="17412649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D22AB-19B0-4483-AEF6-88CAF955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0145D-827B-4831-A9C4-A207D304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47004-58A4-412A-BE20-82371F5D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05 /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7F94F-F232-4E95-A740-A2B5E34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AV2 데이터부터 전처리, 학습, 평가, 시각화까지 하나의 파이프라인으로 구현했다.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2123C-B629-4B89-8253-BB8D940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FF82F-13CE-4572-AF1B-6967214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1790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1698D-8341-4E4A-B3D5-49504BD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495A9-4AEE-430D-AE40-D2257FAF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2C9EB-5D7D-4E5C-A27B-D513EE4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923F7-5D57-41FD-B039-85376C4D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599EF-8E62-4199-862F-4E78E27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AV2 데이터</a:t>
            </a:r>
          </a:p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91387-D870-4F23-A538-3A15408B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622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12D40-E1D4-40FC-85C6-0A28030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14550"/>
            <a:ext cx="1790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BC6BB-E68E-4CB1-A334-2F8CB5BF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1455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F263E-8B3A-4556-A5E0-17053C45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180F4-3BB2-4D39-A4A0-CE1E58B7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FEBE1-4C7C-474A-B1CC-24B9FC82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19CE7-3620-4C7E-B732-607A7C6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상대좌표·속도·</a:t>
            </a:r>
          </a:p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heading feature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9EB7D-3A4B-48C5-A582-661E0860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339AA-90FC-4F85-94A0-88A3411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4550"/>
            <a:ext cx="1790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B15DD-BFBE-4608-BB28-F0998D61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455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5ED9D-C0DD-49F3-9D04-168FA43D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4448E-88F9-4FFA-90A2-A70F791A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B1AB7-4269-4F6D-8E0C-A35935FB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193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170A64-D358-41B3-A932-0BD0D967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train/val .npz</a:t>
            </a:r>
          </a:p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학습 포맷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8A4EB-2030-4B4B-8C94-BF200A4D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622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BF920-5C3D-415C-87AA-457CB016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90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8E4C93-E6BF-4219-A2DC-765C472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C06C11-1641-4D5A-AF62-E70F999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C079F8-256A-4EB3-917B-2ADDCF7F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A12F3-7946-4BF4-9B0B-C5F8F8AE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A013B5-87C9-4D43-A2D0-FCE2D58B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Linear, LSTM,</a:t>
            </a:r>
          </a:p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Transformer, Diffusion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DCD22F-6F41-4F23-8BAE-6818C314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50B95C-F667-41A6-B4ED-CC331BE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14550"/>
            <a:ext cx="1790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DE0F34-3E50-4432-A1FE-A190365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1455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B1C40C-B9DD-412C-BC34-8C5F1AEB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F64007-379E-483A-8AB9-E85DF0E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E1B47C-1BC1-4B7C-9E28-575AA28C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193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BB40E2-9337-4554-B85E-6EB58B1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99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ADE/FDE/Miss Rate</a:t>
            </a:r>
          </a:p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및 시각화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8E2CB6-74E6-4403-84F5-AF0CF0D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10172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0EE2B3-0A1F-4DB0-B898-648B6356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핵심 구현 기준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CEB4E9-A92D-43B0-B70D-2B5E5B77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05350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모든 모델이 같은 데이터 포맷과 같은 validation split을 사용하도록 맞추고, 같은 평가 지표로 비교했다.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9BEC1-6412-48A7-86B3-14D01AFD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38800"/>
            <a:ext cx="754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전처리 → 모델별 학습 → 평가 표 생성 → 예측 궤적 그림 생성</a:t>
            </a:r>
          </a:p>
        </p:txBody>
      </p:sp>
    </p:spTree>
    <p:extLst>
      <p:ext uri="{BB962C8B-B14F-4D97-AF65-F5344CB8AC3E}">
        <p14:creationId xmlns:p14="http://schemas.microsoft.com/office/powerpoint/2010/main" val="20305794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76695-5003-4A3A-9A24-3383A12B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4F55D-7EF8-41A4-B53D-56508F59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CCF03-03C0-47BD-8A3C-57FC682F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06 / Experiment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48F62-8D2F-4781-97FE-519AEE19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모든 모델은 같은 val_full split에서 평가했고, GPU 학습 결과만 비교에 사용했다.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3844E-170B-4AB5-B118-2CAF7885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6BA1E-A781-439E-9095-4C0320CE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6A644-682D-4323-BFE1-0E9EF9F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1544A-4EE7-490A-B06E-9E28477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240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D0309-5F9F-4FE5-A3A5-6CFDDD4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1930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F74FA-3908-45D4-BE83-64131023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F3667-15D6-4595-A811-990CFDB5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Epoch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F8DDC-4A52-4D03-A481-1BDB8ABB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718B8-216E-4DA6-91DF-9923303D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1930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73AED-2A76-4F9D-A70D-236F1BE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3C7B2-AED1-4653-A73F-770DC95E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D4531-6057-4DDA-BBAB-D65F7B8B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D729E-6F13-4D3E-8A02-BE0E1CD5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371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858C3-8F4B-4E16-8AAD-979F34B7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241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80A80-35F3-415C-8F59-66119E1E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19350"/>
            <a:ext cx="3848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현재 움직임 유지 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6A18D-9599-4855-9E90-B95E0B03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8B3D6-F070-4273-A857-439226D7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193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A199D-913D-4581-9132-B985034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4C9B4E-1A95-4781-840D-2D242CAA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31DB6-B75C-4BE0-9127-F9E9B5F1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F8CCF-4DF2-45B2-B469-2B62A293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1981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학습 없음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77618-4ACD-4E97-96F4-CF4DB9AF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84F07-C72A-4C85-860C-AA1AA66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371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C9992-800C-43B3-894B-F8B911B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B3BBC-79D9-45C0-95DE-9C6429D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19400"/>
            <a:ext cx="3848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hidden 128 / 2 layers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1F9684-2447-4B2A-90F6-98F8CBA9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CF520-52DD-454D-8077-4F9F3DC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89531-93D5-4963-8FE3-8F2CFA5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C1271-D92C-498E-9691-FE52B157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7F3EAA-3C00-484B-AE41-F5AAA6C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2035DA-749D-4C81-A70B-96730A64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1981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Smooth L1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96B5F-23BB-425A-AE0E-9E91ADE0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151965-4997-48E0-832A-C3211CB0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371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C80132-0193-49B2-955A-CBA41A69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242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911C67-039D-423B-965F-463402DB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19450"/>
            <a:ext cx="3848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d_model 128 / 4 heads / 3 layers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46EC1C-0BA7-4840-85F0-72BA557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F6CBE5-FAA2-4221-BAE4-B36695CE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6745B7-260D-4949-B1BA-5EDBF3A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D5DF44-CDB1-4EFC-B0C9-C795C28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7ACB41-1DE7-438A-A7C0-10E0CAC6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42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5703CA-5F5B-4510-BAC0-073C67C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1981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A5C1B3-64C1-4A5D-8702-C67AFFC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331536-678E-43AD-AA45-F21D5AC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371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6A877B-DCB7-4920-AE05-E002D5F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3C6B78-A452-4CEA-8448-08594CE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19500"/>
            <a:ext cx="3848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latent 12 / sampling 75 / K=16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246566-A4F7-4CD7-9096-4E4F6E90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29792E-DE7C-4B14-968E-98924596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1950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5C5CD5-3C4A-481D-9D8C-EEE6A64E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D238C1-6BC8-4242-BC34-A5E979D1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E82C3D-832D-4225-B2B0-4142F777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1DB6BE-AB30-43F6-B0F3-D2B01D1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1981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selected pca_b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1EB3EC-2D1C-4132-8494-72AEC41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A95F37-BF36-4CD5-B22F-3C9C0EFA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371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Diff.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B8B052-E43F-4B60-8C4F-2F44EF5F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243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F1D8B9-7B9D-4E0A-94CF-984BFA97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19550"/>
            <a:ext cx="3848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trajectory 60D / sampling 75 / K=16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80E96E-8A41-4439-BA5B-A0F02CF0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949984-FB8A-48CF-968C-3C21896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966272-31E6-4981-B998-B9EFEA0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148FE8-92CC-4FE6-8CE6-88260D0F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3EA2B4-1E78-45A1-9DF4-8535A988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43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422401-F368-4308-8F68-C7AD6078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1981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selected direct_f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F30F6A-F2E2-4177-8442-D15741BC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986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5D31DA-BA0D-4A2F-985B-4E2EC21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공통 조건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08A0B8-810C-4167-9ED3-B051F040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67275"/>
            <a:ext cx="704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입력 past 50 steps, 출력 future 30 steps, Miss Rate threshold 2.0m</a:t>
            </a:r>
          </a:p>
        </p:txBody>
      </p:sp>
    </p:spTree>
    <p:extLst>
      <p:ext uri="{BB962C8B-B14F-4D97-AF65-F5344CB8AC3E}">
        <p14:creationId xmlns:p14="http://schemas.microsoft.com/office/powerpoint/2010/main" val="8654094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BDD47-FDD2-4302-A0FA-3FEAC3F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6299A-48C9-4A88-A720-3CC6C66C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5A3A2-1709-4B7D-97FC-5280371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07 / Experiment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913E9-45B2-433A-8906-764833FC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단일 예측은 LSTM, 후보 생성 best-of-K는 PCA Diffusion이 가장 낮은 오차를 보였다.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3CF69-DBAC-4BEA-8970-AF45A6E6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FDC11-E515-49C3-9B6A-AF291195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687B2-D052-439A-ADE0-76E251F6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91B09-BCA4-450F-85FD-9B7720D5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56E1A-BE7C-4730-9883-32C6223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BA0AB-617B-49C1-A0B6-C240CAAB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383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6356E-B56A-4803-8971-5D51409F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336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E1411-2D80-4429-AE98-51F0BD9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12BC3-E877-4592-B784-ED39E73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336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D76FD-B91B-4DC7-94B3-0263C2AC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88209-A26A-4814-BFCB-A703FCDD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minFDE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EFEF0-F389-4ACC-AA40-BE276A7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53C07-BDDF-4434-9BA1-B6940488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152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CFEA7-0338-4B02-8852-7FE3B01C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EE303-1CED-4499-A8AA-4C3A807D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1.5324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AABB1-7178-4F56-93A5-F1930FB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003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DEEBB-3AFA-41FA-9812-5BB8EB4F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3.7973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4A980-5858-4E9D-B612-AEFB06C9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60608-ECDB-4C68-BB4B-DD44700F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1.5324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67FBA-68D7-431F-9528-E28184F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CBDEB-514C-42CE-B8BF-39E7764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3.7973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82FFB9-FA22-4FD6-97E2-C472982E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F6183-D58B-4468-84EA-AE1DB47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152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1605A-39E2-4AC7-8F0A-CAE00267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6E40D-D56D-4DD4-9B20-6C6D05B0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0.7917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AD5CCF-2158-4B09-A856-38EE24E0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622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A23DC4-55A4-4CF5-A04A-F0674CAE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2.0570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4B217-C044-48A1-925D-680E80C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C4AD5B-E232-437D-BA30-CC916EF1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0.7917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515F0C-EEF1-4711-B4DF-AFEF8E74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8E235E-9FD2-4E3C-ACFB-EF9D18B7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2.0570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668454-271D-4E3C-9B6A-E4BFE10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588DCB-CFE2-4574-BEB8-11B6C70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152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1BDE6F-FB96-40E7-A3C1-DAF4986D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242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910054-0806-4F4A-BB82-4EB8C848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0.8515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B56206-70FE-4F57-93C7-1E78EB1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D166AE-69F5-469E-8965-8F6A4411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2.1835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2D9B39-57B6-4B23-A305-D095A5E5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242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BC0758-42E4-4B33-8FB5-5535270A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94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0.8515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CB177F-FF53-4710-BBA2-66628FCB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AECF0B-7DA9-4D11-91C1-1C4F9D27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2.1835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79F9B7-F67A-4B1C-BB51-733929B1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59F9B1-0629-4497-BD6F-D04E986A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2152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63D39-608C-465B-ACD4-29CA99D4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D5D549-E580-4A2D-A0B5-A87F436C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8140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1.4339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9433EA-B892-498C-8A88-9D55551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DBF357-B8A3-403B-855C-F765678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8140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3.6640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B161D6-7CA8-4D88-9480-A6742731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B083D4-6F59-4E08-ABBC-0F53E5D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8140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0.4175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4C3E70-C2C7-4FAC-8CE4-3520E536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FD848A-24B6-4633-9492-24CCE05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0.8583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CF20A4-533B-4DD9-905F-254C5FE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43E4D6-B202-4EAD-B1E7-0F7A90FC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152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Diffusion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1EB4B2-0CE9-4040-BBC7-2AE5C8A8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481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7D5331-E0FB-4431-A993-A866A93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1.9282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AA5054-18DA-436C-B082-60A72DC8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481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6472-BE45-44BD-A475-CB05916B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43350"/>
            <a:ext cx="1009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4.9114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76B8B5-E457-4CEC-AAA8-62FF6C5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48EBFF-CFB5-47C6-8FBA-58653689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0.5009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D37A68-AFC3-4CE0-B926-2F7F9EA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34BD0B-9C51-45EE-A5A1-C82C45E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1123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0.9845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E508B5-E998-4D26-8732-314CCC6F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76243A-F4E0-44A0-9EAF-2CADFBD8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Best single prediction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EE7912-3495-4A3B-B2F1-25AD09A1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CAC1F1-930B-4DDE-B985-D0CFEE6C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ADE 0.7917 / FDE 2.0570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B44C90-CA96-46BB-B6AA-92FD3FF6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9C3918-36C8-4197-B757-C4C9BE01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Best best-of-K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D554A9-57E4-46BE-B2B4-2BB5386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30545C-CA06-4DFE-A650-CC0BDEC9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338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minADE 0.4175 / minFDE 0.8583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CE1040-0D8A-47A6-B2A1-03199DD8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0058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CBE27C-3568-4FEA-9497-9271FB98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해석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B39448-678A-49AD-8A1F-BF34E7B3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720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LSTM/Transformer는 하나의 궤적을 안정적으로 예측했고, Diffusion은 여러 가능한 미래 후보 중 실제와 가까운 후보를 생성했다.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9EFA97-6C94-4012-9D6A-2B77BA60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주의: minADE/minFDE는 deterministic ADE/FDE와 직접 같은 의미로 비교하지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120057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F278B-B153-4868-A889-93019A2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85C4B-64A1-4B66-8E9B-0B744F66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A8FBB-A24D-4B05-A12E-5458A66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08 / Diffusion Tuning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88A56-46C5-4FAA-A597-4AEF7029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5-epoch pilot에서 불안정했던 Diffusion은 설정 선택과 장기 학습 후 best-of-K 오차가 크게 낮아졌다.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C5849-D4E5-4CB3-82CD-DB3B37E5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80AA4-A222-4E87-B8C7-09A8978F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66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Before: 5-epoch pilot, K=4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4C0E3-361D-47CE-A0C3-9EFD2793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05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After: selected final, K=16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5D799-204A-494C-90DC-94DE2E4A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BEAD5-3C84-4DBB-A3FF-CDD46DD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EDDB1-A641-4686-918D-0AAAC162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9080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F3A9B-99CF-4F9C-9310-7AD07549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90800"/>
            <a:ext cx="115519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D90D8-3419-486F-803A-3261D3D5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2892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405B5-1C45-47F2-BBD7-FF761D6B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28925"/>
            <a:ext cx="7910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0F9E5-AC02-40B7-A3F0-4B37D679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6.10 → 0.42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8D821-409D-4EFC-9793-A4351CF2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-93.2%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99E23-5C54-4ADE-B4FD-CE82E887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34853-2FA6-4B38-AA68-657B19F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minFDE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A2D7F-45D5-49B8-9C0C-3311CE87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49698-AA72-49DE-9F57-5B49D6F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219913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DE0B0-49F5-40AD-AAC1-926D1375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7187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F5E68-C92B-4949-8AED-C14A296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71875"/>
            <a:ext cx="1626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849B3-F3FD-4AE5-B9B9-F82085F0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432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11.61 → 0.86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7D488-594B-4340-B8EB-2A731A6A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-92.6%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491A1-893D-4D2E-8014-9E61D5F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Diffusion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53F1A-E54F-49F9-A623-0E9251D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9CF16-DE97-43B1-AE77-CAEF463E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7670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223C0-EE88-4404-912D-5B5A8923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76700"/>
            <a:ext cx="187234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CDC85-9219-43A7-9BA7-9C3E1BFC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DAA76-0419-4ADD-A071-50154417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49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6C3D8-7CD6-486B-9D22-01D86C72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9.88 → 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78295F-0F4E-458C-BD82-5715A3A8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1482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-94.9%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15E4EF-56D6-43D9-A0CA-D31E7E91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Diffusion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F3C294-1050-4586-9E82-8ED10C20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minFDE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B5145-21F7-43E0-A4E5-4191C90E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505F26-998E-4A68-8D44-2FC28B9E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35066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8FA210-E798-484C-82DF-C102A7BA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57775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E4B9CF-4E2A-4FD0-9816-FFFF680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57775"/>
            <a:ext cx="18653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71FA0C-C602-4DD0-815A-AEF16D84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18.51 → 0.98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56ED2B-0216-46BB-AD30-E8AC379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2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21B6"/>
                </a:solidFill>
                <a:latin typeface="Aptos"/>
                <a:ea typeface="Aptos"/>
                <a:cs typeface="Aptos"/>
              </a:rPr>
              <a:t>-94.7%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1CE032-4156-4981-910A-92AAF93A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3143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25A10B-258B-4D43-B2C1-3B541E6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PCA Diffusion 선택값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F1981C-70F4-4F03-9528-736D38B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latent 12 · sampling 75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080728-964B-4FF9-97DF-46D34376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minADE 0.4175 / minFDE 0.8583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CD8CFC-5E0E-45B5-90BC-B1389A53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3143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D947BC-B186-4ECC-845E-551929B4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Direct Diffusion 선택값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DF34AC-4FDF-4057-8FB8-CF300C90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60D direct · sampling 75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CA648E-E53B-475B-82EA-A193323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91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minADE 0.5009 / minFDE 0.9845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18C212-521A-45CC-85E7-EF9E20EE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57850"/>
            <a:ext cx="9867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F1AB53-3B83-4997-B516-AA00F1D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9775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주의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AB4A39-92E2-445A-B474-50D37B6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9775"/>
            <a:ext cx="769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동일 조건 ablation은 아니며, 튜닝·sampling 수·학습 길이가 함께 반영된 before/after 비교다.</a:t>
            </a:r>
          </a:p>
        </p:txBody>
      </p:sp>
    </p:spTree>
    <p:extLst>
      <p:ext uri="{BB962C8B-B14F-4D97-AF65-F5344CB8AC3E}">
        <p14:creationId xmlns:p14="http://schemas.microsoft.com/office/powerpoint/2010/main" val="9958463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86C6D-C5BB-4AED-8C1A-78B8A613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E7927-B6B4-4AD8-A990-528F119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DE0E5-7E72-4095-B76E-203DD9DB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09 / Miss Rate &amp; Model Efficiency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2EF7A-8CB9-4BAC-90D4-BF4391BD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정확도만이 아니라 실패 비율과 파라미터 수를 함께 보면 모델 선택 기준이 더 분명해진다.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43EA1-824E-4910-8050-144AF82F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9D6D5-F61E-404F-8254-60951085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Miss Rate (FDE &gt; 2.0m, 낮을수록 좋음)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C8D8-F304-4F28-A336-F40125F1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4A724-B62C-43BA-8D0B-77A2B5A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3241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7F4DB-5306-4CDC-8235-611ED301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324100"/>
            <a:ext cx="234763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D4B92-81DE-4E7B-B9BD-3DE507AE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05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59.6%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81EAA-7A3C-46A5-9F0F-C1B8C81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11551-EB37-400A-836C-5D5EDB4D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717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2A79B-D9DA-4BE5-B6CA-F9F81028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71775"/>
            <a:ext cx="150235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3272B-D5E7-44E0-B161-FDFCFC64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527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38.2%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6B25F-4A6A-4E53-922E-93B692D3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429ED-6435-4DC0-875E-655AA46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194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E11CC-F67A-4F04-87F6-47A56683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19450"/>
            <a:ext cx="157519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9C253-79F2-4256-B080-64DCFD9D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004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89833-B541-4B47-982F-3980A314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4BABD-85DD-402B-838F-E552E63E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671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F3629-564A-4B18-8EFC-85C9D3EB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67125"/>
            <a:ext cx="245708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0E770-086D-4AA9-B397-7480BCD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480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62.4%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480D9-CFD0-4526-BEFC-5817CFA6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Diffusion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0A984-4BA7-4795-B053-7A4C9502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148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2E13D-1435-442A-8C8A-32066972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114800"/>
            <a:ext cx="286101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3DF0F1-71CE-4545-B062-3E042474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72.7%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FD0D4-1932-41DD-8725-662C8F0D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Parameter 수와 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10B5A-97A0-4FBB-9F5F-6A70A09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80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09FD32-67BC-46C0-9054-13BDB57C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1657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E23C5-C9DA-4BA1-9F9F-4688ABBA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985A80-9916-40A9-B159-A12A0CF9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723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687F73-ADE0-4897-A779-2F289EF8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10D37D-CE61-407A-826B-B2FEA3CB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04D69-4F58-4877-BDB8-8522241B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050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90E5EE-09AF-4C41-B453-1652911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B802E4-74C4-4525-9B2C-D6EE2A15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76525"/>
            <a:ext cx="180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F40140-1D75-4383-9F8D-5B8AF411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717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5DB181-08CC-404C-9F19-9598BB07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76525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CB2522-6320-43C9-BE23-C2F23F9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7177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A09B7C-86BF-42A6-B973-FF7AB591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7652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901950-9304-4B71-87E0-AC6E9978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1.5324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B77BBF-CCED-4A23-95D5-EA454DF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7652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A67E07-B6D1-48BD-967E-87BD6DDA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717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3.7973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FB8ECE-B74E-4D0B-B48E-4EF331E1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80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EE2082-CDDB-42E5-8C75-E9F42183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381A95-84FF-4D8E-B3E1-65B6284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47CFCE-5D63-4DDE-9C4B-4B61D558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402k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183674-997D-4A59-B371-38507C58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46D880-C74A-4BAC-83E1-E0FD2A8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0.7917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4A7E6D-9069-49E6-83DA-75AC8D93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35E506-8F35-4695-B5EC-25E78DD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432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2.0570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3F0F4F-C5F4-4DE1-8AA8-0B79DE09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19475"/>
            <a:ext cx="180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737FD8-E5CB-4E6F-B44E-3C9C9F3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147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FFD2F8-9CB3-4B57-B944-86138B42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19475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E1D3B9-F072-4BDC-8AC2-7F7358EC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1472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406k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91728D-6DF9-4CDC-84F7-E5AFE04A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1947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BF8062-988A-4436-91C5-EFCBADFE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147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0.8515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340192-5ECE-4544-8F80-E7D8B951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1947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EA95BF-02F6-4B68-9C09-E49F38AC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147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2.1835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EA80BA-3546-488A-AED7-A2CDAF9A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180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81B9CC-598A-4D84-B5CE-F96928F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6F71EE-A255-4BF3-B384-3FF4326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08FCE6-E243-44EC-AE26-F18BA602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223k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4ABAD5-2345-4EFA-BD4F-5E7A3711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C3FE15-069C-4A0A-BFC1-A6046143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1.4339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1FF8E8-304C-4B6D-B066-97ABDB6B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909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287AC1-AB11-4443-B914-943D81D1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862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3.6640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7CE785-D140-48E7-A9D5-9E43FC9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62425"/>
            <a:ext cx="1809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619AA5-2E8F-4F09-9BE1-CFAAA2E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 Diffusion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391FF1-0BF8-45C5-BF44-D53C9277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62425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47281D-FF83-42D2-A722-3FDA455A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5767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531k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F1A60C-DE00-4CC8-A1A0-A64012B0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6242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D70350-8CF1-4BA1-873E-84EA56CA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576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1.9282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A32EF3-C96D-4805-9EDF-362A4C87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62425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53034A-4430-44D4-AE67-7F28032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576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4.9114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558C21-9051-4E05-941D-426FBA2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468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5DF4ED-AD19-4B4C-B5CF-B1D61003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86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Best Miss Rate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2D98135-13AD-4EDC-88D6-E42569D9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149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 38.2%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F5CF90-6812-4B71-87F6-1D8A6E0C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43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Transformer는 40.0%로 근접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66E2F4-D07E-49FB-A81C-DB57D77F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95875"/>
            <a:ext cx="4038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7D4407-43E6-4EDE-BD51-0612C9D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86375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효율 해석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262344C-CD2A-4D09-96E0-3B89F42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24500"/>
            <a:ext cx="331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 Diffusion은 파라미터가 적지만 single ADE는 LSTM보다 높고, Direct는 가장 무겁다.</a:t>
            </a:r>
          </a:p>
        </p:txBody>
      </p:sp>
    </p:spTree>
    <p:extLst>
      <p:ext uri="{BB962C8B-B14F-4D97-AF65-F5344CB8AC3E}">
        <p14:creationId xmlns:p14="http://schemas.microsoft.com/office/powerpoint/2010/main" val="7406024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96D13-A680-489E-BF72-A5B844B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E9F30-7EF5-4F90-A8F3-2F7DD78F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CE6D0-5F88-4FC0-88F3-A3B3CDD6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10 / Visual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3DF31-6FAD-45C9-A32D-30CFDE9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표만으로 보이지 않는 성공·실패·후보 생성 패턴을 실제 궤적 그림으로 확인했다.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B7A31-8389-4621-8D9A-5B9DE89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D2CA7-32B4-4392-AD6A-C18DBE6D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33147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BD4DC-C68B-4A13-99FF-1CA69DE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성공 사례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34da6d0b94851"/>
          <a:stretch xmlns:a="http://schemas.openxmlformats.org/drawingml/2006/main"/>
        </p:blipFill>
        <p:spPr>
          <a:xfrm xmlns:a="http://schemas.openxmlformats.org/drawingml/2006/main">
            <a:off x="1074173" y="2400300"/>
            <a:ext cx="2195054" cy="2152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B826E-1DA0-4470-AB5D-224CA5BB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여러 모델 예측이 실제 미래와 가까움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07913-11ED-4F17-909A-8E492B26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85950"/>
            <a:ext cx="33147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BAF1E-50EB-4727-B8C7-7EA3EDFE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어려운 사례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bd8a17aae4916"/>
          <a:stretch xmlns:a="http://schemas.openxmlformats.org/drawingml/2006/main"/>
        </p:blipFill>
        <p:spPr>
          <a:xfrm xmlns:a="http://schemas.openxmlformats.org/drawingml/2006/main">
            <a:off x="4683353" y="2400300"/>
            <a:ext cx="2177594" cy="2152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F7A45-0E97-41D2-859C-4B274FA4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05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일부 모델이 회전/방향 변화를 놓침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27BBE-76CC-4040-B06A-6FF64F86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33147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AC09E-5BA4-4554-B374-826FDA0A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57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Diffusion 후보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fa11098e1460c"/>
          <a:stretch xmlns:a="http://schemas.openxmlformats.org/drawingml/2006/main"/>
        </p:blipFill>
        <p:spPr>
          <a:xfrm xmlns:a="http://schemas.openxmlformats.org/drawingml/2006/main">
            <a:off x="8258859" y="2400300"/>
            <a:ext cx="2227481" cy="2152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E0125-70DE-4FF4-959C-EF17F25B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05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여러 가능한 미래 중 좋은 후보를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2FE0E-9382-4652-8F46-4CA938DE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C2AB7-8A25-4546-A4F3-2467900D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388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C2A4F-6DF1-45A2-AF4F-DB74942E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81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4FE09-E1A7-4795-A241-801B421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A0D60-4AD1-4B59-B17A-2CE6DC99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Ground truth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B9030-5E46-4FA4-8A39-2C095AE2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6388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E1E58-BF0D-4B1F-97BB-2437C9B3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81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2234C6-63E9-43E3-B721-02AA40C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388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70E95-B161-4FBA-83B4-85DC407B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81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06C59-5834-4F72-B635-D257BD2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67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ACA73-5BE7-4F7F-A9CE-6161A14A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102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D1440D-7909-4ADE-B456-9F8487F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67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E71D6-0B12-4754-80CB-89596C73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102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PCA Diff.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B96C9-766F-4478-83F1-97D6C014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67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CE308-2BDB-4569-BC90-EF76B18F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8102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Direct Diff.</a:t>
            </a:r>
          </a:p>
        </p:txBody>
      </p:sp>
    </p:spTree>
    <p:extLst>
      <p:ext uri="{BB962C8B-B14F-4D97-AF65-F5344CB8AC3E}">
        <p14:creationId xmlns:p14="http://schemas.microsoft.com/office/powerpoint/2010/main" val="14215116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7889F-64EF-4791-932B-53A04A00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911A3-094B-4EB6-89B6-EB44E18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1DB24-8B0C-47F7-A68A-8692DEF1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A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9A8B"/>
                </a:solidFill>
                <a:latin typeface="Aptos"/>
                <a:ea typeface="Aptos"/>
                <a:cs typeface="Aptos"/>
              </a:rPr>
              <a:t>11 /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8A853-1ABA-4446-B681-6E0DB715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수업에서 배운 전처리, 학습, 평가, 비교 실험을 실제 자율주행 데이터에 end-to-end로 적용했다.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4ACDE-3B3F-404C-8946-6B22732F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389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Argoverse 2 Trajectory Forecasting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26562-F27D-4476-AE21-10A13695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7D1CF-88C6-4DE6-A12D-F2230C03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핵심 결론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A2CEA-B4BE-440A-9D98-B4A0CF09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47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EF458-C9C0-418D-B996-501EBE85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3790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LSTM은 단일 궤적 예측에서 가장 안정적인 성능을 보였다.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D2DB7-CCB9-4A93-B403-2B081D2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6F3B1-412B-4BF9-A01F-50371023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3790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Transformer는 attention 구조를 사용했지만, map/interaction feature가 없어 장점이 제한됐다.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9EAF0-3639-4E66-98D6-291FFD9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4CDC0-29CA-42B0-B2B4-FC7554F2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3790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Diffusion은 단일 예측보다 여러 미래 후보 생성에서 의미가 있었다.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696CD-A5B7-412C-BC7D-C12C63B2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6A5C6-7A37-4A47-AE8F-43BF0A8C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한계와 개선 방향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C6FE7-50F5-4F1C-AD72-AE257396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47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F75AE-96D7-4792-AD2F-E678971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3505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HD map, lane graph, traffic light 미사용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A8BF0-58F5-480F-BD39-B88B367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6EAB6-138C-4298-911F-22251BB5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3505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주변 agent interaction 모델링 부족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9FCB3-CDF7-4B9A-A565-950D3769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3867B-183E-4715-B4AD-FC795535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7150"/>
            <a:ext cx="3505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Diffusion 후보 선택을 위한 ranking/confidence 필요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02245-C168-40CC-A599-742C1B7D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최종 의의: 실제 AV2 데이터로 모델 구현·GPU 학습·정량 평가·시각 분석까지 수행</a:t>
            </a:r>
          </a:p>
        </p:txBody>
      </p:sp>
    </p:spTree>
    <p:extLst>
      <p:ext uri="{BB962C8B-B14F-4D97-AF65-F5344CB8AC3E}">
        <p14:creationId xmlns:p14="http://schemas.microsoft.com/office/powerpoint/2010/main" val="517500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2026-06-07T06:36:10.0100000Z</dcterms:created>
  <dcterms:modified xsi:type="dcterms:W3CDTF">2026-06-07T06:36:10.0100000Z</dcterms:modified>
</coreProperties>
</file>